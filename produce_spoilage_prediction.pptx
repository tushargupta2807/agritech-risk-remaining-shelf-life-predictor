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C5F2D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C5F2D"/>
                </a:solidFill>
                <a:latin typeface="Calibri"/>
              </a:rPr>
              <a:t>Original Risk Class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batches (%)</c:v>
                </c:pt>
              </c:strCache>
            </c:strRef>
          </c:tx>
          <c:spPr>
            <a:solidFill>
              <a:srgbClr val="3E7D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E7D3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8A2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6B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23A2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Low</c:v>
                  </c:pt>
                  <c:pt idx="1">
                    <c:v>Medium</c:v>
                  </c:pt>
                  <c:pt idx="2">
                    <c:v>High</c:v>
                  </c:pt>
                  <c:pt idx="3">
                    <c:v>Critical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50</c:v>
                </c:pt>
                <c:pt idx="2">
                  <c:v>27</c:v>
                </c:pt>
                <c:pt idx="3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A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5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572000" cy="4572000"/>
          </a:xfrm>
          <a:prstGeom prst="ellipse">
            <a:avLst/>
          </a:prstGeom>
          <a:solidFill>
            <a:srgbClr val="6B936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6B9362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8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Produce Spoilage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It Happens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sensor data to predict spoilage risk and remaining shelf life — and turning that into simple, actionable decisions.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1280160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257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Farm to Cold Storage — An Early-Warning System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 Today, Rotten Tomorrow — But Nobody Knows When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943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moves 1,000 kg of apples from farm to cold storage. Just by looking, no one can tell which batch will stay fresh for 5 days and which will spoil in 2. Spoilage isn't caused by one thing — it's a mix of conditions changing throughout the journey.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456432"/>
            <a:ext cx="146304" cy="146304"/>
          </a:xfrm>
          <a:prstGeom prst="ellipse">
            <a:avLst/>
          </a:prstGeom>
          <a:solidFill>
            <a:srgbClr val="6B936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3192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swings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520440" y="33192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warm speeds up ripening and decay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959352"/>
            <a:ext cx="146304" cy="146304"/>
          </a:xfrm>
          <a:prstGeom prst="ellipse">
            <a:avLst/>
          </a:prstGeom>
          <a:solidFill>
            <a:srgbClr val="6B936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8221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changes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38221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wet or too dry damages the produce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462272"/>
            <a:ext cx="146304" cy="146304"/>
          </a:xfrm>
          <a:prstGeom prst="ellipse">
            <a:avLst/>
          </a:prstGeom>
          <a:solidFill>
            <a:srgbClr val="6B936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3251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storage/transport time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43251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longer the wait, the higher the risk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965192"/>
            <a:ext cx="146304" cy="146304"/>
          </a:xfrm>
          <a:prstGeom prst="ellipse">
            <a:avLst/>
          </a:prstGeom>
          <a:solidFill>
            <a:srgbClr val="6B936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8280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Cold-storage fluctuations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48280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cooling accelerates spoilage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03720" y="1691640"/>
            <a:ext cx="4754880" cy="4251960"/>
          </a:xfrm>
          <a:prstGeom prst="roundRect">
            <a:avLst>
              <a:gd name="adj" fmla="val 2581"/>
            </a:avLst>
          </a:prstGeom>
          <a:solidFill>
            <a:srgbClr val="D8E6D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69480" y="1965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23317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ML system that reads live storage conditions and instantly answers the questions a warehouse manager actually asks: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69480" y="324612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52360" y="32461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this batch be sold right now?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269480" y="393192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52360" y="39319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it be moved to another cold storage?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269480" y="461772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52360" y="46177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the price be discounted to sell fast?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269480" y="530352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52360" y="53035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more days is it actually safe?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Spoilage Prediction — ML Project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THE DATASET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Realistic, Sensor-Style Dataset Built for This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10,400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6916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2C5F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37560" y="17830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2468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26480" y="17830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468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types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14 Features Look Like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6B936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6576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651760" y="365760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storage_temperature_C, humidity_pct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6B936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3434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651760" y="434340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produce_type (10 options), region (5 options)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02920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6B936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0292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 (10)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651760" y="502920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temp, storage/transport duration, CO2, ethylene, vibration, light, door-open frequency, power outage, initial quality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915400" y="1691640"/>
            <a:ext cx="2743200" cy="4251960"/>
          </a:xfrm>
          <a:prstGeom prst="roundRect">
            <a:avLst>
              <a:gd name="adj" fmla="val 4000"/>
            </a:avLst>
          </a:prstGeom>
          <a:solidFill>
            <a:srgbClr val="D8E6D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TARGETS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0" y="2240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Spoilage Risk Class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0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/ High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(classification)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14400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Shelf Life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144000" y="3429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hours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(regression)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144000" y="4069080"/>
            <a:ext cx="2286000" cy="0"/>
          </a:xfrm>
          <a:prstGeom prst="line">
            <a:avLst/>
          </a:prstGeom>
          <a:noFill/>
          <a:ln w="12700">
            <a:solidFill>
              <a:srgbClr val="6B936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44000" y="4206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BY DESIGN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144000" y="44805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produce type has its own safe temperature &amp; humidity range (e.g. Apple 0–4°C, Banana 13–15°C) built in behind the scenes.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144000" y="54406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~1.5% missing values per column and ~4% duplicates — like real sensor logs, with zero typos.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Spoilage Prediction — ML Project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EXPLORATORY DATA ANALYSIS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Told Us Before Any Model Was Built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59436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21208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was clear from the start — Medium dominates, Low is rare. This directly shaped how the classification model was trained (Step 12).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858000" y="1691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858000" y="210312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7F9F5"/>
          </a:solidFill>
          <a:ln w="12700">
            <a:solidFill>
              <a:srgbClr val="D8E6D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040880" y="217627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per-produce relationship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040880" y="24688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vs. shelf life correlation is -0.85 to -0.90 within each produce type — a genuinely learnable pattern.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6858000" y="3090672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7F9F5"/>
          </a:solidFill>
          <a:ln w="12700">
            <a:solidFill>
              <a:srgbClr val="D8E6D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040880" y="316382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differs by produce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040880" y="34564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Apples last ~90 days, spinach ~10 — so overall raw correlation looks weaker until produce_type is added as a feature.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6858000" y="4078224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7F9F5"/>
          </a:solidFill>
          <a:ln w="12700">
            <a:solidFill>
              <a:srgbClr val="D8E6D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040880" y="415137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handled carefully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7040880" y="444398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 applied only to temperature &amp; humidity, values clipped (not dropped) to avoid losing data.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6858000" y="5065776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7F9F5"/>
          </a:solidFill>
          <a:ln w="12700">
            <a:solidFill>
              <a:srgbClr val="D8E6D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040880" y="513892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features matter statistically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54315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tests showed most categorical features are significant (p &lt; 0.05); region and light exposure were weaker but kept for regression.</a:t>
            </a:r>
            <a:endParaRPr lang="en-US" sz="108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Spoilage Prediction — ML Project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HOW IT WORKS (PART 1)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Sensor Data to Two Trained Models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remove duplicates, merge Critical into High (fixes confusing overlap)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999232" y="1883664"/>
            <a:ext cx="292608" cy="292608"/>
          </a:xfrm>
          <a:prstGeom prst="rightArrow">
            <a:avLst/>
          </a:prstGeom>
          <a:solidFill>
            <a:srgbClr val="6B9362"/>
          </a:solidFill>
          <a:ln/>
        </p:spPr>
      </p:sp>
      <p:sp>
        <p:nvSpPr>
          <p:cNvPr id="9" name="Shape 7"/>
          <p:cNvSpPr/>
          <p:nvPr/>
        </p:nvSpPr>
        <p:spPr>
          <a:xfrm>
            <a:off x="3291840" y="17830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918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2377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274320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encoding for ordered MCQs, one-hot encoding for produce type &amp; region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742432" y="1883664"/>
            <a:ext cx="292608" cy="292608"/>
          </a:xfrm>
          <a:prstGeom prst="rightArrow">
            <a:avLst/>
          </a:prstGeom>
          <a:solidFill>
            <a:srgbClr val="6B9362"/>
          </a:solidFill>
          <a:ln/>
        </p:spPr>
      </p:sp>
      <p:sp>
        <p:nvSpPr>
          <p:cNvPr id="14" name="Shape 12"/>
          <p:cNvSpPr/>
          <p:nvPr/>
        </p:nvSpPr>
        <p:spPr>
          <a:xfrm>
            <a:off x="6035040" y="17830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0350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2377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274320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feature: environmental_stress_score, combining temperature, duration, CO2 &amp; ethylene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485632" y="1883664"/>
            <a:ext cx="292608" cy="292608"/>
          </a:xfrm>
          <a:prstGeom prst="rightArrow">
            <a:avLst/>
          </a:prstGeom>
          <a:solidFill>
            <a:srgbClr val="6B9362"/>
          </a:solidFill>
          <a:ln/>
        </p:spPr>
      </p:sp>
      <p:sp>
        <p:nvSpPr>
          <p:cNvPr id="19" name="Shape 17"/>
          <p:cNvSpPr/>
          <p:nvPr/>
        </p:nvSpPr>
        <p:spPr>
          <a:xfrm>
            <a:off x="8778240" y="17830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778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778240" y="2377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Tune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778240" y="274320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classifiers compared, class-weighting fixes imbalance; 3 regressors compared &amp; tuned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434840"/>
            <a:ext cx="5394960" cy="1508760"/>
          </a:xfrm>
          <a:prstGeom prst="roundRect">
            <a:avLst>
              <a:gd name="adj" fmla="val 7273"/>
            </a:avLst>
          </a:prstGeom>
          <a:solidFill>
            <a:srgbClr val="D8E6D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4572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— Tuned XGBoost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89204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dropped slightly (68.8% → 59.3%) but recall for the rare “Low” risk class jumped from 5% to 64% — far fewer missed early warnings.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17920" y="4434840"/>
            <a:ext cx="5394960" cy="1508760"/>
          </a:xfrm>
          <a:prstGeom prst="roundRect">
            <a:avLst>
              <a:gd name="adj" fmla="val 7273"/>
            </a:avLst>
          </a:prstGeom>
          <a:solidFill>
            <a:srgbClr val="D8E6D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46520" y="4572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— Tuned Random Forest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489204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shelf life is continuous, so there's no bucket-boundary confusion — the model reaches an R² of 0.956 on test data.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artifacts — both models, encoder, scaler, column order &amp; label maps — are saved with joblib for reuse in the app.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Spoilage Prediction — ML Project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HOW IT WORKS (PART 2)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Streamlit App: 14 Questions, One Instant Answer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7099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14 questions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02996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Sliders, dropdowns &amp; multiple choice — one question per feature, nothing pre-selected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6700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check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99008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“Check Score” first confirms every question is answered; missing ones are listed clearly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6301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&amp; scale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95020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converted using the exact same encoder, scaler &amp; column order as training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5902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&amp; display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91032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saved models run instantly and results appear in an easy-to-read results panel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92240" y="1691640"/>
            <a:ext cx="5212080" cy="4343400"/>
          </a:xfrm>
          <a:prstGeom prst="roundRect">
            <a:avLst>
              <a:gd name="adj" fmla="val 2947"/>
            </a:avLst>
          </a:prstGeom>
          <a:solidFill>
            <a:srgbClr val="2C5F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66560" y="18745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PANEL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66560" y="2194560"/>
            <a:ext cx="4663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949440" y="2395728"/>
            <a:ext cx="457200" cy="457200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543800" y="2286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Medium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543800" y="26151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card: Low / Medium / High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766560" y="3200400"/>
            <a:ext cx="46634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949440" y="32918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Shelf Life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949440" y="35661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57.6 hours  ≈  2.4 days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766560" y="4206240"/>
            <a:ext cx="46634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949440" y="4297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Confidence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949440" y="45720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bars across Low / Medium / High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766560" y="5212080"/>
            <a:ext cx="466344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949440" y="521208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Action: Monitor closely / Discount &amp; sell soon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Spoilage Prediction — ML Project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CONCLUSION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Numbers to a Decision-Ready Tool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7F9F5"/>
          </a:solidFill>
          <a:ln w="12700">
            <a:solidFill>
              <a:srgbClr val="D8E6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29968"/>
            <a:ext cx="329184" cy="329184"/>
          </a:xfrm>
          <a:prstGeom prst="ellipse">
            <a:avLst/>
          </a:prstGeom>
          <a:solidFill>
            <a:srgbClr val="6B936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25880" y="18288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early-warning system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15798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Sensor-style inputs are turned into two clear outputs: spoilage risk and remaining shelf life.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7F9F5"/>
          </a:solidFill>
          <a:ln w="12700">
            <a:solidFill>
              <a:srgbClr val="D8E6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081528"/>
            <a:ext cx="329184" cy="329184"/>
          </a:xfrm>
          <a:prstGeom prst="ellipse">
            <a:avLst/>
          </a:prstGeom>
          <a:solidFill>
            <a:srgbClr val="6B936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25880" y="288036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for the real cost of mistakes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20954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classifier trades a little accuracy for much better detection of the rare, important “Low risk” cases.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7F9F5"/>
          </a:solidFill>
          <a:ln w="12700">
            <a:solidFill>
              <a:srgbClr val="D8E6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4133088"/>
            <a:ext cx="329184" cy="329184"/>
          </a:xfrm>
          <a:prstGeom prst="ellipse">
            <a:avLst/>
          </a:prstGeom>
          <a:solidFill>
            <a:srgbClr val="6B936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325880" y="39319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accurate shelf-life estimate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26110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regression model explains 95.6% of the variation in remaining shelf life (R² = 0.956).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7F9F5"/>
          </a:solidFill>
          <a:ln w="12700">
            <a:solidFill>
              <a:srgbClr val="D8E6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5184648"/>
            <a:ext cx="329184" cy="329184"/>
          </a:xfrm>
          <a:prstGeom prst="ellipse">
            <a:avLst/>
          </a:prstGeom>
          <a:solidFill>
            <a:srgbClr val="6B936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325880" y="49834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by non-technical staff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31266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Streamlit app lets a warehouse manager get an answer in under a minute, with no coding needed.</a:t>
            </a:r>
            <a:endParaRPr lang="en-US" sz="118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Spoilage Prediction — ML Project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FUTURE SCOPE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Project Can Go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2C5F2D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6B936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603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IoT sensor integration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4436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manual answers with real-time feeds from temperature &amp; humidity sensors.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2C5F2D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1965960"/>
            <a:ext cx="457200" cy="457200"/>
          </a:xfrm>
          <a:prstGeom prst="ellipse">
            <a:avLst/>
          </a:prstGeom>
          <a:solidFill>
            <a:srgbClr val="6B936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262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5603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alerts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94436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SMS/email/app notifications the moment a batch crosses into High risk.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2C5F2D"/>
          </a:solidFill>
          <a:ln/>
        </p:spPr>
      </p:sp>
      <p:sp>
        <p:nvSpPr>
          <p:cNvPr id="15" name="Shape 13"/>
          <p:cNvSpPr/>
          <p:nvPr/>
        </p:nvSpPr>
        <p:spPr>
          <a:xfrm>
            <a:off x="8275320" y="1965960"/>
            <a:ext cx="457200" cy="457200"/>
          </a:xfrm>
          <a:prstGeom prst="ellipse">
            <a:avLst/>
          </a:prstGeom>
          <a:solidFill>
            <a:srgbClr val="6B936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753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5603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produce categories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94436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the current 10 types to grains, dairy, and seafood.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2C5F2D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069080"/>
            <a:ext cx="457200" cy="457200"/>
          </a:xfrm>
          <a:prstGeom prst="ellipse">
            <a:avLst/>
          </a:prstGeom>
          <a:solidFill>
            <a:srgbClr val="6B936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6634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recommendations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04748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predictions with market price data to suggest optimal discount levels.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384048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2C5F2D"/>
          </a:solidFill>
          <a:ln/>
        </p:spPr>
      </p:sp>
      <p:sp>
        <p:nvSpPr>
          <p:cNvPr id="25" name="Shape 23"/>
          <p:cNvSpPr/>
          <p:nvPr/>
        </p:nvSpPr>
        <p:spPr>
          <a:xfrm>
            <a:off x="4526280" y="4069080"/>
            <a:ext cx="457200" cy="457200"/>
          </a:xfrm>
          <a:prstGeom prst="ellipse">
            <a:avLst/>
          </a:prstGeom>
          <a:solidFill>
            <a:srgbClr val="6B936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262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6634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526280" y="504748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the app so multiple warehouses can access it from any device.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384048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2C5F2D"/>
          </a:solidFill>
          <a:ln/>
        </p:spPr>
      </p:sp>
      <p:sp>
        <p:nvSpPr>
          <p:cNvPr id="30" name="Shape 28"/>
          <p:cNvSpPr/>
          <p:nvPr/>
        </p:nvSpPr>
        <p:spPr>
          <a:xfrm>
            <a:off x="8275320" y="4069080"/>
            <a:ext cx="457200" cy="457200"/>
          </a:xfrm>
          <a:prstGeom prst="ellipse">
            <a:avLst/>
          </a:prstGeom>
          <a:solidFill>
            <a:srgbClr val="6B936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753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6634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interface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504748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regional language support for wider adoption on the ground.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Spoilage Prediction — ML Project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4114800" cy="4114800"/>
          </a:xfrm>
          <a:prstGeom prst="ellipse">
            <a:avLst/>
          </a:prstGeom>
          <a:solidFill>
            <a:srgbClr val="6B9362">
              <a:alpha val="2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651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20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2026-09-12T18:20:24Z</dcterms:created>
  <dcterms:modified xsi:type="dcterms:W3CDTF">2026-09-12T18:20:24Z</dcterms:modified>
</cp:coreProperties>
</file>